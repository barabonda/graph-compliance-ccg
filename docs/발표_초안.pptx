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오프닝 멘트: '준법감시인이 광고 하나를 승인하기까지 무엇을 확인하는지, 그 과정을 AI가 대신 설명하게 만들었습니다.'</a:t>
            </a:r>
          </a:p>
          <a:p>
            <a:r>
              <a:t>0장 한 문장(룰이 자르고 LLM이 해석)은 클로징과 수미상관으로 2회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예상질문 '좋은 LLM에 규정 다 넣으면?' → '넣으면 비결정성과 감사 불가가 생깁니다. 그래서 무엇을 룰에, 무엇을 LLM에 맡길지 나눴습니다'로 3장 유도.</a:t>
            </a:r>
          </a:p>
          <a:p>
            <a:r>
              <a:t>출처: 제안서 p.4.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[발표의 심장, 서두르지 말 것] 예상질문 '룰과 LLM 충돌 시?' → escalate-only. '룰은 하드코딩?' → 요건을 프롬프트가 아닌 정책 그래프(CU 법적요건 프로파일)에 인코딩, 프롬프트 무수정으로 규제당국 판단사례 3/3 재현(체크리스트 (a)(b)).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docs/REASONING_ARCHITECTURE.md §2 표. 이 장은 표를 읽지 말고 예시 3개를 말로 풀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압축] 회답 4단 구조 + So-what만 말하고 이미지는 보여주며 지나간다. 상세(할루시네이션 방어, 법/심의기준 tier 구분)는 Q&amp;A 카드로.</a:t>
            </a:r>
          </a:p>
          <a:p>
            <a:r>
              <a:t>출처: docs/REASONING_ARCHITECTURE.md §4, judge.py, 체크리스트 (d)(g).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판정5종_설명_슬라이드.png를 전체 화면으로 20초. 핵심 한 줄: '모호하면 NEEDS_PRODUCT_SELECTION으로 보류 — 지어내지 않는다.'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예상질문: 'SUPPORTED면 승인?' → 아니오, 고지가 묻히면 Disclosure Gate가 CONDITION_MISSING/PROMINENCE_INSUFFICIENT로 잡음. '상품 6천건 사전추출?' → 온디맨드, 특정된 상품 PDF만 읽음.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예상질문 '멈추면 불편하지 않나?' → 의도된 설계. 금융 심의에서 근거 없는 통과가 최악의 실패. 실패 원인은 로그로 남아 즉시 조치.</a:t>
            </a:r>
          </a:p>
          <a:p>
            <a:r>
              <a:t>출처: README 34~35행, 체크리스트 (i).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docs/JB금융 Fin AI Challenge 기능명세서 - JunBub (3).docx §3 (전 기능 구현 여부 O). 이 장은 20초 — 표를 읽지 말고 '약속한 것을 다 만들었고, 이제 수치로 보여드린다' 한 문장으로 브리지.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[수치 규율] 88건은 '위반 신호'(INSUFFICIENT 다수 = 심사자 검토 필요) — 확정위반 30건과 반드시 구분해 말한다. 심의필 누락 수치는 크롤링 텍스트 캡처 한계 가능성 → 단정 금지. 실패 12건은 파이프라인 프롬프트 팽창(컨텍스트 한계)이 원인 — 개선 항목으로 먼저 밝혀도 좋다. -35%는 '병목 3구간' 한정 — 총 소요 과장 금지.</a:t>
            </a:r>
          </a:p>
          <a:p>
            <a:r>
              <a:t>혐오표현 질문 → 'Track C 활성화: UnSmile 기반 6개 리스크 축, 판정마다 선례 인용, clean 오탐 0 스모크 통과. 잡습니다.' (UnSmile 비상업 라이선스 — 상업 배포 시 K-MHaS 교체 예정)</a:t>
            </a:r>
          </a:p>
          <a:p>
            <a:r>
              <a:t>멘트: '표본을 2배로 늘려도 패턴이 유지됩니다.'</a:t>
            </a:r>
          </a:p>
          <a:p>
            <a:r>
              <a:t>출처: eval/violation_sweep/pilot50_seed42/report.md, _workspace_eval/03_extended_summary.md, _workspace_trackc/02_smoke_summary.md, _workspace/01·02, 제안서 p.16. 여유 시 리더보드 1위 0.8096.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예상질문 ROI → '확인된 수치로만: 1~2일 → 5분 이내(MVP 개발셋 기준). 금액 환산은 기관별 물량에 따라 달라 단정하지 않고, 도입 파일럿에서 함께 측정하고 싶은 1순위 지표.'</a:t>
            </a:r>
          </a:p>
          <a:p>
            <a:r>
              <a:t>'프로세스 어디에 끼우나?' → 사전심의 앞단 1차 검토 준비 도구, 결재 라인 무변경.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0장 한 문장으로 회귀(수미상관). 이후 Q&amp;A — 까다로운 질문 Top 5 답변은 docs/발표_목차_전략.md 리스크 절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9EC5FF"/>
                </a:solidFill>
              </a:rPr>
              <a:t>JB금융그룹 Fin AI Challenge  ·  Team JunBub</a:t>
            </a:r>
          </a:p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</a:rPr>
              <a:t>JB Compliance · CONTENT SAFEGUARD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8E4F8"/>
                </a:solidFill>
              </a:rPr>
              <a:t>금융광고를 법령·심의기준·상품설명서 사실과 대조하는 설명 가능한 사전 준법 심의 콘솔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EC5FF"/>
                </a:solidFill>
              </a:rPr>
              <a:t>설명가능성  ·  신뢰 계약  ·  실전성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5120640"/>
            <a:ext cx="3474720" cy="137160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심사 콘솔 3-pane 풀샷 캡처(반투명, 배경 장식용)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frontend :3000 실행 화면 · 없으면 제안서 p.7 결과물 캡처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01  문제 정의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2325C"/>
                </a:solidFill>
              </a:rPr>
              <a:t>심의 병목은 두 가지 — 수작업 검토와 AI 판단 신뢰성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사람이 또 검토해야 하는 AI는 병목을 못 없앤다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</a:rPr>
              <a:t>1:00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</a:rPr>
              <a:t>① 수작업 중심의 심의 병목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25C"/>
                </a:solidFill>
              </a:rPr>
              <a:t>대고객 콘텐츠를 준법관리자가 손으로 검토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25C"/>
                </a:solidFill>
              </a:rPr>
              <a:t>사전심의 ~ 본심의 1~2일 소요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25C"/>
                </a:solidFill>
              </a:rPr>
              <a:t>배포 지연 → 마케팅 적시성 저하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</a:rPr>
              <a:t>② 일반 RAG 검토의 신뢰성 한계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25C"/>
                </a:solidFill>
              </a:rPr>
              <a:t>관련 문서를 '찾아도' 근거 누락 가능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25C"/>
                </a:solidFill>
              </a:rPr>
              <a:t>조항·예외·참조 관계 추적 어려움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2325C"/>
                </a:solidFill>
              </a:rPr>
              <a:t>결과를 준법감시인이 다시 확인 → 업무 부담 잔존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이 병목의 비용은 기술 문제가 아니라 영업 문제 — 심의에 묶인 1~2일만큼 적시성이 깎이고, 서두르면 규제 리스크를 진다.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현행 심의 워크플로 1컷: 현업 초안 → 준법 수작업 검토(1~2일) → 반려/보완 왕복 도식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제안서 p.4 2분할 도식 재활용 또는 화살표 다이어그램 신규 1장(파워포인트 도형으로 충분)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02  핵심 구조 ★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2325C"/>
                </a:solidFill>
              </a:rPr>
              <a:t>룰·그래프가 문제를 자르고, LLM은 정리된 문제만 해석한다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위반 복잡도에 따라 담당 엔진을 나눈 것이 신뢰의 근원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</a:rPr>
              <a:t>2:00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675120" cy="411480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추론 아키텍처 다이어그램: 입력(광고+정책그래프) → 규칙 레인(적용범위 게이팅·필수고지·위임사슬·현저성) + LLM 레인(CU 요건판단·Track B 종합) → 심사 권고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docs/REASONING_ARCHITECTURE.md §1 Mermaid를 렌더해 캡처(GitHub 렌더 화면 캡처면 충분) · 백업: 제안서 p.8 구조도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91640"/>
            <a:ext cx="4114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E7A3D"/>
                </a:solidFill>
              </a:rPr>
              <a:t>규칙 = 재현·감사 가능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같은 입력 → 같은 판정, 근거는 조문으로 추적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3063240"/>
            <a:ext cx="4114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</a:rPr>
              <a:t>LLM = 맥락·종합 해석만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룰이 자른 후보 위에서만 판단(CU Plan)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43484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</a:rPr>
              <a:t>escalate-only 융합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규칙은 판정을 올릴 수만 있다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= AI가 위반을 봐주는 일은 구조적으로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심사 일관성이 사람의 컨디션이 아니라 구조에서 나온다 — 담당자가 누구든 같은 광고에는 같은 근거 경로.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02  핵심 구조 ★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2325C"/>
                </a:solidFill>
              </a:rPr>
              <a:t>위반은 한 종류가 아니다 — 복잡도별 담당 엔진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단순은 규칙이 빠짐없이, 복잡은 LLM이 깊이 있게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</a:rPr>
              <a:t>2:00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7A3D"/>
                </a:solidFill>
              </a:rPr>
              <a:t>단순 위반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8308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E7A3D"/>
                </a:solidFill>
              </a:rPr>
              <a:t>무엇이 핵심인가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필수고지 존재/부재 (예: 예금자보호 고지 누락)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783080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E7A3D"/>
                </a:solidFill>
              </a:rPr>
              <a:t>담당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규칙이 직접 판정 — 빠짐없이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563EB"/>
                </a:solidFill>
              </a:rPr>
              <a:t>중간 위반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15468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</a:rPr>
              <a:t>무엇이 핵심인가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두 조각의 표시 위계 (예: headline 최고금리 vs footnote 조건)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3154680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</a:rPr>
              <a:t>담당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규칙이 구조화 → LLM이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</a:rPr>
              <a:t>복잡 위반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452628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</a:rPr>
              <a:t>무엇이 핵심인가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조각은 모두 합법, 전체 인상에서만 드러남 (예: '안전한 고금리' 인상 vs 원금손실 실체)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4526280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</a:rPr>
              <a:t>담당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LLM 종합(Track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기계적 항목은 사람도 AI도 아닌 규칙이 거는 '누락 없는 체크리스트' — LLM에 맡기면 비결정성·감사 불가가 생긴다.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03  축1 · 설명가능성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2325C"/>
                </a:solidFill>
              </a:rPr>
              <a:t>판정이 근거 조문 원문까지 — 금감원 회답 형식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AI가 '왜'를 보고서 형식 그대로 설명한다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</a:rPr>
              <a:t>1:00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</a:rPr>
              <a:t>① 정의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legal_basis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근거 조문 인용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73736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</a:rPr>
              <a:t>② 요건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criteria_findings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요건별 충족/미충족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미충족도 빠짐없이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173736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</a:rPr>
              <a:t>③ 결론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conclusion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상품 사실 모순을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엮어 결론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73736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</a:rPr>
              <a:t>④ 유보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reservation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단정 대신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금감원식 유보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5486400" cy="210312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콘솔 '판정 상세' 패널 캡처 — 정의→요건→결론→유보가 실제 화면에 그대로 있는 컷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라이브 심사 1건 실행 후 판정 상세 캡처 (데모와 같은 예시 광고 사용)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657600"/>
            <a:ext cx="5394960" cy="210312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법령 위임 사슬 breadcrumb 캡처 — 금소법 §22 → 심의기준 §1(위임) → §17④ → CU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코파일럿/콘솔 breadcrumb 화면 · 없으면 제안서 p.13 Legal Graph 도식 재활용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준법감시인 보고서 형식 그대로 — 옮겨 적는 이중 작업이 없고, 반려 소명·내부감사·감독당국 질의에 그대로 제출 가능.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04  데모 예고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2325C"/>
                </a:solidFill>
              </a:rPr>
              <a:t>상품 사실 대조 — 광고 주장 vs 상품설명서 '진짜 사실'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사실이 모호하면 지어내지 않고 보류한다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</a:rPr>
              <a:t>0:20 (데모 도입)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411480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판정 5종 설명 이미지 그대로 삽입 — SUPPORTED / CONTRADICTED / CONDITION_MISSING / NO_PRODUCT_FACT / NEEDS_PRODUCT_SELECTION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기존 자산 재활용: 판정5종_설명_슬라이드.png (프로젝트 루트)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</a:rPr>
              <a:t>멘트 |  '지금부터 이 어휘로 화면을 보시게 됩니다' — 5종 어휘를 미리 각인시키고 데모 진입.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04  라이브 데모 ★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2325C"/>
                </a:solidFill>
              </a:rPr>
              <a:t>심사 콘솔 3-pane — 구조가 화면으로 작동한다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광고 1건 → 하이라이트·위험 카드·판정 상세·수정안까지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</a:rPr>
              <a:t>2:00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2325C"/>
                </a:solidFill>
              </a:rPr>
              <a:t>시연 순서 (검증된 문구만)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2325C"/>
                </a:solidFill>
              </a:rPr>
              <a:t>1. 입력: "누구나 조건 없이 최고 연 5.0% 금리 확정 제공"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2325C"/>
                </a:solidFill>
              </a:rPr>
              <a:t>2. 원문 하이라이트 (심각도 색 + 물결 밑줄)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2325C"/>
                </a:solidFill>
              </a:rPr>
              <a:t>3. 위험 카드: 개별 심사(Track A) + 종합 심사(Track B)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2325C"/>
                </a:solidFill>
              </a:rPr>
              <a:t>4. 판정 상세: 정의→요건→결론→유보 + 조문 인용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2325C"/>
                </a:solidFill>
              </a:rPr>
              <a:t>5. 상품 사실 대조: 도전 루틴 적금 (5종 판정)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2325C"/>
                </a:solidFill>
              </a:rPr>
              <a:t>6. 수정안: 원문↔교정본 diff, 고지 삽입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37360"/>
            <a:ext cx="6858000" cy="402336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라이브 전환 (이 슬라이드에서 브라우저로 이동) — 백업용으로 동일 시나리오 사전 녹화 영상 또는 콘솔 3-pane 풀샷 캡처를 여기에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frontend :3000 · 백업 녹화 필수(Aura 워밍업/LLM 지연 대비) · 발표 5분 전 심사 1건 미리 실행해 DB 깨우기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이 한 사이클이 심사역의 1차 검토 준비 — 1~2일이 광고 1건당 5분 이내(MVP 개발셋 기준)로, 반려 대신 수정 문안까지.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05  축2 · 신뢰 계약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2325C"/>
                </a:solidFill>
              </a:rPr>
              <a:t>모르면 통과가 아니라 중단 — fallback 없는 실패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AI 도입 후에도 책임 소재가 흐려지지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</a:rPr>
              <a:t>1:00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</a:rPr>
              <a:t>권고형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AI는 반려/수정/검토/통과후보 권고만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확정 결정은 심사자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책임 구조 무변경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</a:rPr>
              <a:t>조용한 fallback 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LLM/그래프 없으면 대충 하지 않고 실패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'근거 없는 통과' 원천 차단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게이트 차단 동작을 실측으로 증명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7A3D"/>
                </a:solidFill>
              </a:rPr>
              <a:t>실행 단위 감사 추적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AI 판단·근거·대조·최종 결정 기록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과거 실행 시점 데이터 그대로 재현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'그때 왜 승인했나'에 근거로 답변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97680"/>
            <a:ext cx="11064240" cy="155448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운영 대시보드 캡처 — 실행 기록 목록 + 행 클릭 시 그 실행의 시점 데이터가 콘솔로 열리는 컷 (2장 이어붙여도 됨)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콘솔 운영 대시보드 화면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내부통제 관점: 가장 위험한 실패 유형인 '근거 없는 통과'가 구조적으로 불가능하다.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06  약속 → 구현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2325C"/>
                </a:solidFill>
              </a:rPr>
              <a:t>예선에 약속한 핵심 기능 7종, 전부 구현 완료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제안서의 약속이 명세서의 '구현 O'로, 이제 실측 증거로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</a:rPr>
              <a:t>0:20 (증거 도입)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40680" cy="8686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2325C"/>
                </a:solidFill>
              </a:rPr>
              <a:t>O  설명가능 사전심의 (2-레인)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12325C"/>
                </a:solidFill>
              </a:rPr>
              <a:t>축1 설명가능성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440680" cy="8686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2325C"/>
                </a:solidFill>
              </a:rPr>
              <a:t>O  필수 고지 점검 (데이터 카탈로그)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DC2626"/>
                </a:solidFill>
              </a:rPr>
              <a:t>축2 신뢰 계약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5440680" cy="8686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2325C"/>
                </a:solidFill>
              </a:rPr>
              <a:t>O  상품 사실 대조 (Product Fact Graph)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12325C"/>
                </a:solidFill>
              </a:rPr>
              <a:t>축1 설명가능성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88920"/>
            <a:ext cx="5440680" cy="8686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2325C"/>
                </a:solidFill>
              </a:rPr>
              <a:t>O  종합 인상 심사 (Track B)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12325C"/>
                </a:solidFill>
              </a:rPr>
              <a:t>축1 설명가능성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440680" cy="8686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2325C"/>
                </a:solidFill>
              </a:rPr>
              <a:t>O  일관 교정본·수정안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563EB"/>
                </a:solidFill>
              </a:rPr>
              <a:t>축3 실전성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440680" cy="8686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2325C"/>
                </a:solidFill>
              </a:rPr>
              <a:t>O  운영 대시보드·감사 추적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DC2626"/>
                </a:solidFill>
              </a:rPr>
              <a:t>축2 신뢰 계약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440680" cy="8686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2325C"/>
                </a:solidFill>
              </a:rPr>
              <a:t>O  로컬/클라우드 LLM 토글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563EB"/>
                </a:solidFill>
              </a:rPr>
              <a:t>축3 실전성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기능 나열이 아니라 이행 증명 — 예선 기능명세서 기준 7/7 구현(O). 다음 장에서 실측으로 확인합니다.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06  축3 · 실전 증거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2325C"/>
                </a:solidFill>
              </a:rPr>
              <a:t>실은행 데이터에서 검증 중 — 수치는 출처와 함께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장난감 데모가 아니라 시중은행 5곳 실데이터로 시험한다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</a:rPr>
              <a:t>1:30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2563EB"/>
                </a:solidFill>
              </a:rPr>
              <a:t>0.92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CU 계획 재현율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6B7280"/>
                </a:solidFill>
              </a:rPr>
              <a:t>(MVP 개발셋)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737360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2563EB"/>
                </a:solidFill>
              </a:rPr>
              <a:t>1.00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근거 접지율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6B7280"/>
                </a:solidFill>
              </a:rPr>
              <a:t>(MVP 개발셋)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737360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2563EB"/>
                </a:solidFill>
              </a:rPr>
              <a:t>-35%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병목 3구간 단축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83.0s → 53.9s · 판정 동등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6B7280"/>
                </a:solidFill>
              </a:rPr>
              <a:t>(실측)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1737360"/>
            <a:ext cx="269748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2563EB"/>
                </a:solidFill>
              </a:rPr>
              <a:t>106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테스트 통과</a:t>
            </a:r>
          </a:p>
          <a:p>
            <a:pPr algn="ctr">
              <a:spcAft>
                <a:spcPts val="600"/>
              </a:spcAft>
            </a:pPr>
            <a:r>
              <a:rPr sz="950" b="0">
                <a:solidFill>
                  <a:srgbClr val="6B7280"/>
                </a:solidFill>
              </a:rPr>
              <a:t>(pytest)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</a:rPr>
              <a:t>실상품 위반 탐지 스윕 — 완료 (100건)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국민·하나·전북·우리·신한 실광고 2,163건 중 층화 100건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완료 88건 전건 위반 신호 검출 (100%, 전 은행 동일)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확정위반 30건(34%) · 총 판정 804건 · Track B 76/88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대표: "경품 100% 지급"·"원하는 경품 모두" (금소법 시행령 §20①-3·①-5)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표본 50→100 확장에도 분포 유지 · 실패 12건 정직 보고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611880"/>
            <a:ext cx="5394960" cy="219456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스윕 결과 차트 — 은행별 검출(88/88) 막대 + 원칙별 분포 도넛(광고규제 70%·설명의무 17%·부당권유 8%)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report.md §1~§3 표에서 제작 (eval/violation_sweep/pilot50_seed42/)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이미 시장에 나간 실광고에서도 확정위반 30건을 근거 조문과 함께 짚었다 — 접지율 1.00 = 근거 없는 판정은 한 건도 없다.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07  기대효과 ★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2325C"/>
                </a:solidFill>
              </a:rPr>
              <a:t>심사자를 대체가 아니라 무장시킨다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1~2일 리드타임 → 분 단위 1차 검토, 판단 편차 → 근거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</a:rPr>
              <a:t>1:00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325C"/>
                </a:solidFill>
              </a:rPr>
              <a:t>준법감시인·심사역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심사 일관성: 같은 입력 → 같은 근거 경로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1차 검토 준비 1~2일 → 5분 이내*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판단이 아니라 '검증'에 시간 사용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</a:rPr>
              <a:t>마케팅·현업 부서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반려 사유가 아니라 수정 문안이 돌아옴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보완 왕복 감소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배포 적시성 보전 = 마케팅 기회 보전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5661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7A3D"/>
                </a:solidFill>
              </a:rPr>
              <a:t>경영진·감사 조직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실행 단위 기록 → 사후 감사·소명 대응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AI 도입에도 책임 구조 무변경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'법 위반'과 '심의기준 미흡' 구분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</a:rPr>
              <a:t>* MVP 개발셋 기준 (제안서 p.16) — 금액 환산은 도입 파일럿에서 함께 측정할 1순위 지표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로드맵 4단계 띠 그래픽 — 다국어 검수(KR/KH 착수) → 온프레미스 → 멀티모달(배너·영상 자막) → 규정 변경 추적 Agent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제안서 p.17 로드맵 표 재활용(그대로 캡처해 넣어도 됨)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9966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</a:rPr>
              <a:t>규칙이 자르고, LLM이 해석합니다.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D8E4F8"/>
                </a:solidFill>
              </a:rPr>
              <a:t>준법감시인은 AI의 결론이 아니라 AI가 밟은 근거를 검토하게 됩니다.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9EC5FF"/>
                </a:solidFill>
              </a:rPr>
              <a:t>심의는 빨라지고, 판단은 일관해지고, 기록은 남습니다.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949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EC5FF"/>
                </a:solidFill>
              </a:rPr>
              <a:t>감사합니다 · Team JunBub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