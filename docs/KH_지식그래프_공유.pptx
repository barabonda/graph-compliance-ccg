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566928"/>
          </a:xfrm>
          <a:prstGeom prst="rect">
            <a:avLst/>
          </a:prstGeom>
          <a:solidFill>
            <a:srgbClr val="29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A1D27"/>
                </a:solidFill>
                <a:latin typeface="Malgun Gothic"/>
                <a:ea typeface="Malgun Gothic"/>
              </a:rPr>
              <a:t>캄보디아(PPCBank) 지식그래프 구축 — 규정 + 상품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072"/>
                </a:solidFill>
                <a:latin typeface="Malgun Gothic"/>
                <a:ea typeface="Malgun Gothic"/>
              </a:rPr>
              <a:t>KR 심사 파이프라인 무변경 · 모든 KH 데이터는 workspace_id 하나로 격리 (graphcompliance_cambodia_ppcbank_20260630)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074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952CC"/>
                </a:solidFill>
                <a:latin typeface="Malgun Gothic"/>
                <a:ea typeface="Malgun Gothic"/>
              </a:rPr>
              <a:t>① Policy graph — 법률 기반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7"/>
                </a:solidFill>
                <a:latin typeface="Malgun Gothic"/>
                <a:ea typeface="Malgun Gothic"/>
              </a:rPr>
              <a:t>•  캄보디아 법령 3종 → 심사 룰(ComplianceUnit) 16개로 변환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7"/>
                </a:solidFill>
                <a:latin typeface="Malgun Gothic"/>
                <a:ea typeface="Malgun Gothic"/>
              </a:rPr>
              <a:t>•  룰 16개 전부 원문 조문에 근거 연결(LegalClause 14 · LegalChunk 7)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7"/>
                </a:solidFill>
                <a:latin typeface="Malgun Gothic"/>
                <a:ea typeface="Malgun Gothic"/>
              </a:rPr>
              <a:t>•  검색·게이팅용 정렬층 컴파일: 개념 13 · 전제 19 · 프로파일 16×2(임베딩·법요소)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57600"/>
            <a:ext cx="5532120" cy="278892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50749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952CC"/>
                </a:solidFill>
                <a:latin typeface="Malgun Gothic"/>
                <a:ea typeface="Malgun Gothic"/>
              </a:rPr>
              <a:t>② Product fact graph — 상품설명서 기반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7"/>
                </a:solidFill>
                <a:latin typeface="Malgun Gothic"/>
                <a:ea typeface="Malgun Gothic"/>
              </a:rPr>
              <a:t>•  PPCBank 상품페이지 20종 크롤 → 상품·문서·사실 노드로 적재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7"/>
                </a:solidFill>
                <a:latin typeface="Malgun Gothic"/>
                <a:ea typeface="Malgun Gothic"/>
              </a:rPr>
              <a:t>•  Claude Opus 4.8 + 영어 프롬프트로 사실 255건 추출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  (상품 언어가 영어 → 프롬프트도 영어로 설계)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7"/>
                </a:solidFill>
                <a:latin typeface="Malgun Gothic"/>
                <a:ea typeface="Malgun Gothic"/>
              </a:rPr>
              <a:t>•  규칙: 근거 문구는 원문 그대로 인용 · 추정 금지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7"/>
                </a:solidFill>
                <a:latin typeface="Malgun Gothic"/>
                <a:ea typeface="Malgun Gothic"/>
              </a:rPr>
              <a:t>•  페이지에 없는 정보(미공시)도 사실로 기록 — 53건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  예: "저축계좌로 광고하지만 금리를 게시하지 않음" → 과장광고 검출에 사용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1D27"/>
                </a:solidFill>
                <a:latin typeface="Malgun Gothic"/>
                <a:ea typeface="Malgun Gothic"/>
              </a:rPr>
              <a:t>•  비용: 대회 Claude API $450 중 약 $1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605272" cy="169164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53312"/>
            <a:ext cx="51206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952CC"/>
                </a:solidFill>
                <a:latin typeface="Malgun Gothic"/>
                <a:ea typeface="Malgun Gothic"/>
              </a:rPr>
              <a:t>구축 문서 — 법령 (3)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D27"/>
                </a:solidFill>
                <a:latin typeface="Malgun Gothic"/>
                <a:ea typeface="Malgun Gothic"/>
              </a:rPr>
              <a:t>•  Law on Consumer Protection (2019) — 원문 PDF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D27"/>
                </a:solidFill>
                <a:latin typeface="Malgun Gothic"/>
                <a:ea typeface="Malgun Gothic"/>
              </a:rPr>
              <a:t>•  Sub-Decree No. 232 (2022) · Prakas No. 249 (2022) — 광고 관리, 영문 요약본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45D0E"/>
                </a:solidFill>
                <a:latin typeface="Malgun Gothic"/>
                <a:ea typeface="Malgun Gothic"/>
              </a:rPr>
              <a:t>•  NBC 금리 규정 — 원문 미확보(인용 자리만, 추후 보완)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017520"/>
            <a:ext cx="5605272" cy="3429000"/>
          </a:xfrm>
          <a:prstGeom prst="roundRect">
            <a:avLst>
              <a:gd name="adj" fmla="val 6000"/>
            </a:avLst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182112"/>
            <a:ext cx="512064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952CC"/>
                </a:solidFill>
                <a:latin typeface="Malgun Gothic"/>
                <a:ea typeface="Malgun Gothic"/>
              </a:rPr>
              <a:t>구축 문서 — PPCBank 상품 (21)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예금 10</a:t>
            </a:r>
            <a:r>
              <a:rPr sz="1050" b="0">
                <a:solidFill>
                  <a:srgbClr val="1A1D27"/>
                </a:solidFill>
                <a:latin typeface="Malgun Gothic"/>
                <a:ea typeface="Malgun Gothic"/>
              </a:rPr>
              <a:t>  Fixed Deposit · Savings · Current · Installment Deposit · Junior Savings · VIP Savings · Piggy Bank · Buddy Bank · Heng Heng · Songkhoem Installment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대출 7</a:t>
            </a:r>
            <a:r>
              <a:rPr sz="1050" b="0">
                <a:solidFill>
                  <a:srgbClr val="1A1D27"/>
                </a:solidFill>
                <a:latin typeface="Malgun Gothic"/>
                <a:ea typeface="Malgun Gothic"/>
              </a:rPr>
              <a:t>  Car Loan · Home Loan · Home Improvement · Car for Cash · Loan Against Deposit · Songkhoem Loan · Annatean Rohas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카드 3</a:t>
            </a:r>
            <a:r>
              <a:rPr sz="1050" b="0">
                <a:solidFill>
                  <a:srgbClr val="1A1D27"/>
                </a:solidFill>
                <a:latin typeface="Malgun Gothic"/>
                <a:ea typeface="Malgun Gothic"/>
              </a:rPr>
              <a:t>  Visa Credit · Visa Debit · CSS Card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공고 1</a:t>
            </a:r>
            <a:r>
              <a:rPr sz="1050" b="0">
                <a:solidFill>
                  <a:srgbClr val="1A1D27"/>
                </a:solidFill>
                <a:latin typeface="Malgun Gothic"/>
                <a:ea typeface="Malgun Gothic"/>
              </a:rPr>
              <a:t>  금리 개정 공고 (2026-04-01 시행)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566928"/>
          </a:xfrm>
          <a:prstGeom prst="rect">
            <a:avLst/>
          </a:prstGeom>
          <a:solidFill>
            <a:srgbClr val="29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A1D27"/>
                </a:solidFill>
                <a:latin typeface="Malgun Gothic"/>
                <a:ea typeface="Malgun Gothic"/>
              </a:rPr>
              <a:t>그래프 규모 · 연결 · 품질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072"/>
                </a:solidFill>
                <a:latin typeface="Malgun Gothic"/>
                <a:ea typeface="Malgun Gothic"/>
              </a:rPr>
              <a:t>구축 후 2단계 점검(스크립트 검증 + 독립 LLM 감사)으로 오류를 찾아 수정까지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2715768" cy="129844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16736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952CC"/>
                </a:solidFill>
                <a:latin typeface="Malgun Gothic"/>
                <a:ea typeface="Malgun Gothic"/>
              </a:rPr>
              <a:t>16</a:t>
            </a:r>
            <a:r>
              <a:rPr sz="1100" b="0">
                <a:solidFill>
                  <a:srgbClr val="5A6072"/>
                </a:solidFill>
                <a:latin typeface="Malgun Gothic"/>
                <a:ea typeface="Malgun Gothic"/>
              </a:rPr>
              <a:t/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7"/>
                </a:solidFill>
                <a:latin typeface="Malgun Gothic"/>
                <a:ea typeface="Malgun Gothic"/>
              </a:rPr>
              <a:t>심사 룰 (CU)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072"/>
                </a:solidFill>
                <a:latin typeface="Malgun Gothic"/>
                <a:ea typeface="Malgun Gothic"/>
              </a:rPr>
              <a:t>광고규제 14 · 설명의무 2 · 100% 조문 근거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188720"/>
            <a:ext cx="2715768" cy="129844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1296" y="1316736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952CC"/>
                </a:solidFill>
                <a:latin typeface="Malgun Gothic"/>
                <a:ea typeface="Malgun Gothic"/>
              </a:rPr>
              <a:t>255</a:t>
            </a:r>
            <a:r>
              <a:rPr sz="1100" b="0">
                <a:solidFill>
                  <a:srgbClr val="5A6072"/>
                </a:solidFill>
                <a:latin typeface="Malgun Gothic"/>
                <a:ea typeface="Malgun Gothic"/>
              </a:rPr>
              <a:t/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7"/>
                </a:solidFill>
                <a:latin typeface="Malgun Gothic"/>
                <a:ea typeface="Malgun Gothic"/>
              </a:rPr>
              <a:t>상품 사실 (ProductFact)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072"/>
                </a:solidFill>
                <a:latin typeface="Malgun Gothic"/>
                <a:ea typeface="Malgun Gothic"/>
              </a:rPr>
              <a:t>미공시 53 포함 · 신뢰도 평균 0.91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188720"/>
            <a:ext cx="2715768" cy="129844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316736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952CC"/>
                </a:solidFill>
                <a:latin typeface="Malgun Gothic"/>
                <a:ea typeface="Malgun Gothic"/>
              </a:rPr>
              <a:t>413</a:t>
            </a:r>
            <a:r>
              <a:rPr sz="1100" b="0">
                <a:solidFill>
                  <a:srgbClr val="5A6072"/>
                </a:solidFill>
                <a:latin typeface="Malgun Gothic"/>
                <a:ea typeface="Malgun Gothic"/>
              </a:rPr>
              <a:t/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7"/>
                </a:solidFill>
                <a:latin typeface="Malgun Gothic"/>
                <a:ea typeface="Malgun Gothic"/>
              </a:rPr>
              <a:t>코퍼스 노드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072"/>
                </a:solidFill>
                <a:latin typeface="Malgun Gothic"/>
                <a:ea typeface="Malgun Gothic"/>
              </a:rPr>
              <a:t>법령·룰·상품·사실 (심사 산출물 제외)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07424" y="1188720"/>
            <a:ext cx="2715768" cy="1298448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08592" y="1316736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952CC"/>
                </a:solidFill>
                <a:latin typeface="Malgun Gothic"/>
                <a:ea typeface="Malgun Gothic"/>
              </a:rPr>
              <a:t>3,287</a:t>
            </a:r>
            <a:r>
              <a:rPr sz="1100" b="0">
                <a:solidFill>
                  <a:srgbClr val="5A6072"/>
                </a:solidFill>
                <a:latin typeface="Malgun Gothic"/>
                <a:ea typeface="Malgun Gothic"/>
              </a:rPr>
              <a:t/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7"/>
                </a:solidFill>
                <a:latin typeface="Malgun Gothic"/>
                <a:ea typeface="Malgun Gothic"/>
              </a:rPr>
              <a:t>전체 노드 · 관계 5,125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5A6072"/>
                </a:solidFill>
                <a:latin typeface="Malgun Gothic"/>
                <a:ea typeface="Malgun Gothic"/>
              </a:rPr>
              <a:t>심사 16회 산출물 포함 (KH 전체)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70048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1D27"/>
                </a:solidFill>
                <a:latin typeface="Malgun Gothic"/>
                <a:ea typeface="Malgun Gothic"/>
              </a:rPr>
              <a:t>연결도  </a:t>
            </a:r>
            <a:r>
              <a:rPr sz="1150" b="0">
                <a:solidFill>
                  <a:srgbClr val="5A6072"/>
                </a:solidFill>
                <a:latin typeface="Malgun Gothic"/>
                <a:ea typeface="Malgun Gothic"/>
              </a:rPr>
              <a:t>룰 1개당 근거 조문 평균 1.8개  ·  상품문서 1건당 사실 평균 12.1개  ·  격리 위반 0 · 고아 노드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127248"/>
            <a:ext cx="5532120" cy="329184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50749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952CC"/>
                </a:solidFill>
                <a:latin typeface="Malgun Gothic"/>
                <a:ea typeface="Malgun Gothic"/>
              </a:rPr>
              <a:t>노드 주요 속성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ComplianceUnit(룰)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principle(광고규제/설명의무) · source_article(근거 조문) · effective_date/version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ProductFact(상품 사실)</a:t>
            </a:r>
            <a:r>
              <a:rPr sz="1050" b="0">
                <a:solidFill>
                  <a:srgbClr val="2952CC"/>
                </a:solidFill>
                <a:latin typeface="Malgun Gothic"/>
                <a:ea typeface="Malgun Gothic"/>
              </a:rPr>
              <a:t>  ← 이번 확장의 핵심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fact_type(금리/한도/자격/수수료/미공시…) · value · unit · condition(적용 조건)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evidence_text(원문 인용) · confidence · extraction_method(claude:opus-4-8)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Product / ProductDocument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name · group(예금/대출/카드) · source_url(원본 페이지) · 파일 경로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127248"/>
            <a:ext cx="5605272" cy="329184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291840"/>
            <a:ext cx="51663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952CC"/>
                </a:solidFill>
                <a:latin typeface="Malgun Gothic"/>
                <a:ea typeface="Malgun Gothic"/>
              </a:rPr>
              <a:t>점검 → 개선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① 스크립트 검증</a:t>
            </a: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격리 0 · 고아 0 · 근거문구 원문 일치 96.5%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② 독립 LLM 감사(에이전트 24개)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사실 255건 전수를 페이지 원문과 1:1 대조, 문제 건은 다른 에이전트가 재검증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7F3D"/>
                </a:solidFill>
                <a:latin typeface="Malgun Gothic"/>
                <a:ea typeface="Malgun Gothic"/>
              </a:rPr>
              <a:t>  → 99.2% 충실 · 종합 EXCELLENT (92/100)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③ 발견 오류 2건 수정 후 재적재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Home Loan '승인기준 미공시' 오판 정정 · Current Account 용어 혼동(MOU) 정정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D27"/>
                </a:solidFill>
                <a:latin typeface="Malgun Gothic"/>
                <a:ea typeface="Malgun Gothic"/>
              </a:rPr>
              <a:t>④ 실전 검증</a:t>
            </a: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  Home Loan 위반 광고 심사 → 추출 사실과 충돌 5건 검출(반려)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566928"/>
          </a:xfrm>
          <a:prstGeom prst="rect">
            <a:avLst/>
          </a:prstGeom>
          <a:solidFill>
            <a:srgbClr val="29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A1D27"/>
                </a:solidFill>
                <a:latin typeface="Malgun Gothic"/>
                <a:ea typeface="Malgun Gothic"/>
              </a:rPr>
              <a:t>다국어 심사 UI · 대화형 어시스턴트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072"/>
                </a:solidFill>
                <a:latin typeface="Malgun Gothic"/>
                <a:ea typeface="Malgun Gothic"/>
              </a:rPr>
              <a:t>크메르어/영어 광고도 한국인 심사자가 그대로 심사 — 판정은 원문 기준, 번역은 표시 전용</a:t>
            </a:r>
          </a:p>
        </p:txBody>
      </p:sp>
      <p:pic>
        <p:nvPicPr>
          <p:cNvPr id="5" name="Picture 4" descr="1_console_kh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6720840" cy="42005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425820"/>
            <a:ext cx="6720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심사 콘솔 — 크메르어 원문 문장마다 EN·KO 번역 병기, 위험 카드 인용문에도 번역. 판정 근거는 캄보디아 조문(Sub-Decree 232 등)만 인용.</a:t>
            </a:r>
          </a:p>
        </p:txBody>
      </p:sp>
      <p:pic>
        <p:nvPicPr>
          <p:cNvPr id="7" name="Picture 6" descr="2_product_fa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70432"/>
            <a:ext cx="4041648" cy="25260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3733037"/>
            <a:ext cx="4041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상품 사실 대조 — 광고 주장 ↔ 추출 사실 충돌 카드</a:t>
            </a:r>
          </a:p>
        </p:txBody>
      </p:sp>
      <p:pic>
        <p:nvPicPr>
          <p:cNvPr id="9" name="Picture 8" descr="3_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117085"/>
            <a:ext cx="4041648" cy="25260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6679691"/>
            <a:ext cx="4041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072"/>
                </a:solidFill>
                <a:latin typeface="Malgun Gothic"/>
                <a:ea typeface="Malgun Gothic"/>
              </a:rPr>
              <a:t>결과 설명 챗 — KH-CU·조문 인용 답변 (읽기 전용)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989320"/>
            <a:ext cx="6720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952CC"/>
                </a:solidFill>
                <a:latin typeface="Malgun Gothic"/>
                <a:ea typeface="Malgun Gothic"/>
              </a:rPr>
              <a:t>대화형 어시스턴트</a:t>
            </a:r>
            <a:r>
              <a:rPr sz="1050" b="0">
                <a:solidFill>
                  <a:srgbClr val="1A1D27"/>
                </a:solidFill>
                <a:latin typeface="Malgun Gothic"/>
                <a:ea typeface="Malgun Gothic"/>
              </a:rPr>
              <a:t>  읽기 전용 도구 5종(run 목록 · run 상세 · run 비교 · 상품 사실 · CU 상세) + function-calling 오케스트레이터(최대 6회 호출) · 판정 변경 불가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952CC"/>
                </a:solidFill>
                <a:latin typeface="Malgun Gothic"/>
                <a:ea typeface="Malgun Gothic"/>
              </a:rPr>
              <a:t>활용</a:t>
            </a:r>
            <a:r>
              <a:rPr sz="1050" b="0">
                <a:solidFill>
                  <a:srgbClr val="1A1D27"/>
                </a:solidFill>
                <a:latin typeface="Malgun Gothic"/>
                <a:ea typeface="Malgun Gothic"/>
              </a:rPr>
              <a:t>  ① 반려 사유 설명 ② 법령/상품 근거 분해 ③ run 간 비교 ④ 상품 사실 근거 조회   </a:t>
            </a:r>
            <a:r>
              <a:rPr sz="950" b="0">
                <a:solidFill>
                  <a:srgbClr val="5A6072"/>
                </a:solidFill>
                <a:latin typeface="Malgun Gothic"/>
                <a:ea typeface="Malgun Gothic"/>
              </a:rPr>
              <a:t>※ CopilotKit은 런타임 구조 충돌로 검토 후 자체 경량 패널로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