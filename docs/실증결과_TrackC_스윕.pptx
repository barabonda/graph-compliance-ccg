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So-what: '데모가 아니라 이미 시장에 나간 실광고와 실제 혐오표현 데이터로 검증했다'가 이 자료의 단일 메시지.</a:t>
            </a:r>
          </a:p>
          <a:p>
            <a:r>
              <a:t>두 실증 모두 같은 원칙 — 근거(조문/선례) 없는 판정은 내보내지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So-what: 심사위원이 '보여주기용 표본 아니냐'고 물으면 seed 고정 + 슈퍼셋 검증 + index.jsonl로 답한다.</a:t>
            </a:r>
          </a:p>
          <a:p>
            <a:r>
              <a:t>출처: 03_extended_summary.md 실행 개요, manifest.json.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[말하기 규율] 88건 전건을 '위반'이라 말하지 않는다 — '위반 신호'다. INSUFFICIENT 다수는 자료 부족으로 적합성 미확정 = '심사자 검토 필요' 신호. 확정위반(NON_COMPLIANT) 30건과 반드시 구분.</a:t>
            </a:r>
          </a:p>
          <a:p>
            <a:r>
              <a:t>So-what: 검출이 아니라 '조문 인용 동반 검출'이 차별점.</a:t>
            </a:r>
          </a:p>
          <a:p>
            <a:r>
              <a:t>출처: report.md §1~§4, 03_extended_summary.md (a)(c).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So-what: 심사위원 신뢰 포인트는 12건 실패를 먼저 밝히는 태도. 발표 멘트: '표본을 2배로 늘려도 패턴이 유지됩니다.'</a:t>
            </a:r>
          </a:p>
          <a:p>
            <a:r>
              <a:t>주의: 심의필 표시 누락 관련 수치는 크롤링 텍스트 캡처 한계 가능성 — 단정 금지.</a:t>
            </a:r>
          </a:p>
          <a:p>
            <a:r>
              <a:t>출처: 03_extended_summary.md (b)(d).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So-what: 준법 리스크(법령)와 평판 리스크(브랜드세이프티)를 한 콘솔에서 — 심사역이 도구를 갈아탈 필요가 없다.</a:t>
            </a:r>
          </a:p>
          <a:p>
            <a:r>
              <a:t>출처: _workspace_trackc/01_impl_summary.md (RiskAxis 6/RiskPattern 58/CasePrecedent 607), 02_smoke_summary.md (b) 룰/LLM 분리 실증, README Track C 확장 슬롯 경위.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혐오표현 Q&amp;A 표준 답변: '잡습니다. 공개 데이터셋 기반 6개 리스크 축, 판정마다 선례 인용, clean 오탐 0 스모크 통과.'</a:t>
            </a:r>
          </a:p>
          <a:p>
            <a:r>
              <a:t>지연 주의: 판정 지연은 전체 파이프라인 때문, Track C 추가분은 후보 게이트+축당 1 LLM 콜로 경미.</a:t>
            </a:r>
          </a:p>
          <a:p>
            <a:r>
              <a:t>출처: _workspace_trackc/02_smoke_summary.md (a)(b)(오탐)(c) — 4/4 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So-what: 이 장 자체가 신뢰 계약의 발표 버전. 심사위원 앞에서 한계를 먼저 말하면 나머지 수치의 신뢰도가 올라간다.</a:t>
            </a:r>
          </a:p>
          <a:p>
            <a:r>
              <a:t>출처: _workspace_trackc/dataset_license.md, 03_extended_summary.md (d), 코디네이터 각주 지침.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So-what: 두 실증의 공통 결론 = '근거 동반 판정' 원칙이 법령 축을 넘어 평판 축까지 확장됐고, 실데이터에서 작동한다.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9EC5FF"/>
                </a:solidFill>
              </a:rPr>
              <a:t>JB Compliance · 실증 결과 공유</a:t>
            </a:r>
          </a:p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</a:rPr>
              <a:t>실은행 광고 100건 위반 탐지 스윕</a:t>
            </a:r>
          </a:p>
          <a:p>
            <a:pPr algn="l">
              <a:spcAft>
                <a:spcPts val="1200"/>
              </a:spcAft>
            </a:pPr>
            <a:r>
              <a:rPr sz="3400" b="1">
                <a:solidFill>
                  <a:srgbClr val="FFFFFF"/>
                </a:solidFill>
              </a:rPr>
              <a:t>+ Track C 혐오표현·브랜드세이프티 활성화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D8E4F8"/>
                </a:solidFill>
              </a:rPr>
              <a:t>국민·하나·전북·우리·신한 실광고 2,163건 중 층화 100건 심사  ·  혐오표현 6개 리스크 축 스모크 4/4 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1206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EC5FF"/>
                </a:solidFill>
              </a:rPr>
              <a:t>Team JunBub  ·  수치 출처: report.md / 03_extended_summary.md / 02_smoke_summary.md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</a:rPr>
              <a:t>01  스윕 설계</a:t>
            </a:r>
          </a:p>
          <a:p>
            <a:pPr algn="l">
              <a:spcAft>
                <a:spcPts val="200"/>
              </a:spcAft>
            </a:pPr>
            <a:r>
              <a:rPr sz="2900" b="1">
                <a:solidFill>
                  <a:srgbClr val="12325C"/>
                </a:solidFill>
              </a:rPr>
              <a:t>실은행 5곳 2,163건 → 층화 표본 100건 (재현 가능)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</a:rPr>
              <a:t>결론 | 표본이 임의가 아니라 은행별 비례 층화 + seed 고정 재현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53949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</a:rPr>
              <a:t>표본 설계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원본: 국민·하나·전북·우리·신한 실광고 2,163건 CSV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층화 100건: 국민 39 · 하나 25 · 전북 17 · 우리 17 · 신한 2 (비례)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seed 42 고정 — sample(100) ⊇ sample(50) 슈퍼셋 사전 검증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→ 같은 명령이면 같은 표본 (재현 가능)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737360"/>
            <a:ext cx="53949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</a:rPr>
              <a:t>실행 구조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체크포인트 재개: 기존 50건 결과 스킵, 신규 50건만 실행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완료 88건 평균 심사 약 180초/건 (concurrency 2)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산출물: report.md(약 290KB) · violations.csv(804행)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항목별 JSON 100건 + index.jsonl (전 실행 감사 추적)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251960"/>
            <a:ext cx="11064240" cy="1554480"/>
          </a:xfrm>
          <a:prstGeom prst="rect">
            <a:avLst/>
          </a:prstGeom>
          <a:solidFill>
            <a:srgbClr val="F3F4F6"/>
          </a:solidFill>
          <a:ln w="19050">
            <a:solidFill>
              <a:srgbClr val="2563E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2563EB"/>
                </a:solidFill>
              </a:rPr>
              <a:t>[ 이미지 자리 ]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2325C"/>
                </a:solidFill>
              </a:rPr>
              <a:t>표본 설계 도식 — 2,163건 막대(은행별) 위에 층화 100건 추출 화살표 + 'seed 42 재현' 배지</a:t>
            </a:r>
          </a:p>
          <a:p>
            <a:pPr algn="ctr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</a:rPr>
              <a:t>manifest.json·03_extended_summary.md 수치로 도형 제작 (파워포인트 도형으로 충분)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DC2626"/>
                </a:solidFill>
              </a:rPr>
              <a:t>So-what |  결과를 골라 보여주는 체리피킹이 아니다 — 표본 추출부터 실행 기록까지 전부 재현·감사 가능.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</a:rPr>
              <a:t>02  스윕 결과</a:t>
            </a:r>
          </a:p>
          <a:p>
            <a:pPr algn="l">
              <a:spcAft>
                <a:spcPts val="200"/>
              </a:spcAft>
            </a:pPr>
            <a:r>
              <a:rPr sz="2900" b="1">
                <a:solidFill>
                  <a:srgbClr val="12325C"/>
                </a:solidFill>
              </a:rPr>
              <a:t>완료 88건 전건에서 위반 신호 — 확정위반 30건(34%)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</a:rPr>
              <a:t>결론 | '신호 100%'와 '확정 34%'를 구분해 읽는 것이 이 표의 핵심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2697480" cy="16002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800" b="1">
                <a:solidFill>
                  <a:srgbClr val="2563EB"/>
                </a:solidFill>
              </a:rPr>
              <a:t>88/88</a:t>
            </a:r>
          </a:p>
          <a:p>
            <a:pPr algn="ctr">
              <a:spcAft>
                <a:spcPts val="100"/>
              </a:spcAft>
            </a:pPr>
            <a:r>
              <a:rPr sz="1150" b="0">
                <a:solidFill>
                  <a:srgbClr val="12325C"/>
                </a:solidFill>
              </a:rPr>
              <a:t>완료 전건 위반 신호</a:t>
            </a:r>
          </a:p>
          <a:p>
            <a:pPr algn="ctr">
              <a:spcAft>
                <a:spcPts val="100"/>
              </a:spcAft>
            </a:pPr>
            <a:r>
              <a:rPr sz="1150" b="0">
                <a:solidFill>
                  <a:srgbClr val="12325C"/>
                </a:solidFill>
              </a:rPr>
              <a:t>(전 은행 100%)</a:t>
            </a:r>
          </a:p>
          <a:p>
            <a:pPr algn="ctr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</a:rPr>
              <a:t>(report.md §1)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01568" y="1691640"/>
            <a:ext cx="2697480" cy="16002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800" b="1">
                <a:solidFill>
                  <a:srgbClr val="2563EB"/>
                </a:solidFill>
              </a:rPr>
              <a:t>30건</a:t>
            </a:r>
          </a:p>
          <a:p>
            <a:pPr algn="ctr">
              <a:spcAft>
                <a:spcPts val="100"/>
              </a:spcAft>
            </a:pPr>
            <a:r>
              <a:rPr sz="1150" b="0">
                <a:solidFill>
                  <a:srgbClr val="12325C"/>
                </a:solidFill>
              </a:rPr>
              <a:t>확정위반(NC 포함) 항목</a:t>
            </a:r>
          </a:p>
          <a:p>
            <a:pPr algn="ctr">
              <a:spcAft>
                <a:spcPts val="100"/>
              </a:spcAft>
            </a:pPr>
            <a:r>
              <a:rPr sz="1150" b="0">
                <a:solidFill>
                  <a:srgbClr val="12325C"/>
                </a:solidFill>
              </a:rPr>
              <a:t>완료 대비 34%</a:t>
            </a:r>
          </a:p>
          <a:p>
            <a:pPr algn="ctr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</a:rPr>
              <a:t>(03_extended (a))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54496" y="1691640"/>
            <a:ext cx="2697480" cy="16002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800" b="1">
                <a:solidFill>
                  <a:srgbClr val="2563EB"/>
                </a:solidFill>
              </a:rPr>
              <a:t>804</a:t>
            </a:r>
          </a:p>
          <a:p>
            <a:pPr algn="ctr">
              <a:spcAft>
                <a:spcPts val="100"/>
              </a:spcAft>
            </a:pPr>
            <a:r>
              <a:rPr sz="1150" b="0">
                <a:solidFill>
                  <a:srgbClr val="12325C"/>
                </a:solidFill>
              </a:rPr>
              <a:t>총 위반 판정</a:t>
            </a:r>
          </a:p>
          <a:p>
            <a:pPr algn="ctr">
              <a:spcAft>
                <a:spcPts val="100"/>
              </a:spcAft>
            </a:pPr>
            <a:r>
              <a:rPr sz="1150" b="0">
                <a:solidFill>
                  <a:srgbClr val="12325C"/>
                </a:solidFill>
              </a:rPr>
              <a:t>(NC 44 + INSUF 760)</a:t>
            </a:r>
          </a:p>
          <a:p>
            <a:pPr algn="ctr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</a:rPr>
              <a:t>(violations.csv)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07424" y="1691640"/>
            <a:ext cx="2697480" cy="16002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800" b="1">
                <a:solidFill>
                  <a:srgbClr val="2563EB"/>
                </a:solidFill>
              </a:rPr>
              <a:t>76/88</a:t>
            </a:r>
          </a:p>
          <a:p>
            <a:pPr algn="ctr">
              <a:spcAft>
                <a:spcPts val="100"/>
              </a:spcAft>
            </a:pPr>
            <a:r>
              <a:rPr sz="1150" b="0">
                <a:solidFill>
                  <a:srgbClr val="12325C"/>
                </a:solidFill>
              </a:rPr>
              <a:t>Track B 전체 인상 위험</a:t>
            </a:r>
          </a:p>
          <a:p>
            <a:pPr algn="ctr">
              <a:spcAft>
                <a:spcPts val="100"/>
              </a:spcAft>
            </a:pPr>
            <a:r>
              <a:rPr sz="1150" b="0">
                <a:solidFill>
                  <a:srgbClr val="12325C"/>
                </a:solidFill>
              </a:rPr>
              <a:t>(86%)</a:t>
            </a:r>
          </a:p>
          <a:p>
            <a:pPr algn="ctr">
              <a:spcAft>
                <a:spcPts val="600"/>
              </a:spcAft>
            </a:pPr>
            <a:r>
              <a:rPr sz="900" b="0">
                <a:solidFill>
                  <a:srgbClr val="6B7280"/>
                </a:solidFill>
              </a:rPr>
              <a:t>(report.md)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520440"/>
            <a:ext cx="53949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563EB"/>
                </a:solidFill>
              </a:rPr>
              <a:t>원칙별 분포 (위반 판정 804건)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광고규제 560건 (~70%)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설명의무 134건 (~17%)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부당권유행위 금지 67건 (~8%)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확정위반 최다 근거: 금소법 시행령 §20①-3·①-5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(단정·오인 표현) · 표시광고법 §4 다수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520440"/>
            <a:ext cx="53949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</a:rPr>
              <a:t>대표 확정위반 (실광고 원문)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"경품 100% 지급!" — 국민 (시행령 §20①-5)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"이용자 100% 당첨 이벤트" — 국민 (§20①-5)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"원하는 경품 모두 받으세요!" — 하나 (§20①-3)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무이자할부 제외조건 표시 방식 — 전북 (§20①-5)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DC2626"/>
                </a:solidFill>
              </a:rPr>
              <a:t>So-what |  이미 시장에 나간 광고에서도 확정위반 30건을 조문과 함께 짚었다 — 사전심의에 넣었다면 배포 전에 걸렸을 문구들.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</a:rPr>
              <a:t>03  안정성 — 표본 2배 확장 재현 + 실패 정직 보고</a:t>
            </a:r>
          </a:p>
          <a:p>
            <a:pPr algn="l">
              <a:spcAft>
                <a:spcPts val="200"/>
              </a:spcAft>
            </a:pPr>
            <a:r>
              <a:rPr sz="2900" b="1">
                <a:solidFill>
                  <a:srgbClr val="12325C"/>
                </a:solidFill>
              </a:rPr>
              <a:t>표본을 50→100으로 늘려도 패턴이 유지된다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</a:rPr>
              <a:t>결론 | 분포가 재현되고, 실패는 숨기지 않고 원인까지 분석했다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539496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E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E7A3D"/>
                </a:solidFill>
              </a:rPr>
              <a:t>50 → 100 분포 재현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신호 검출률: 100% → 100% (유지)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확정위반/완료: 39.1% → 34.1% (대체로 유지)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Track B 위험/완료: 89.1% → 86.4% (유지)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원칙 분포: 광고규제 319→560 · 설명의무 71→134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· 부당권유 37→67 (약 2배 비례 증가, 순위 불변)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→ 층화 표본의 대표성 확인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737360"/>
            <a:ext cx="539496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</a:rPr>
              <a:t>실패 12건 — 정직 보고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context_length 9건 + APITimeout 3건 (전부 실패로 기록)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원인은 광고 길이가 아니라 파이프라인의 프롬프트 팽창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(정책 후보·증거 패킹이 19만~47만 자까지 확장,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 1,513자 짧은 광고에서도 발생)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개선 방향: 프롬프트 예산 관리(후보 컷·청킹)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또는 대형 컨텍스트 모델 라우팅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800600"/>
            <a:ext cx="11064240" cy="1051560"/>
          </a:xfrm>
          <a:prstGeom prst="rect">
            <a:avLst/>
          </a:prstGeom>
          <a:solidFill>
            <a:srgbClr val="F3F4F6"/>
          </a:solidFill>
          <a:ln w="19050">
            <a:solidFill>
              <a:srgbClr val="2563E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2563EB"/>
                </a:solidFill>
              </a:rPr>
              <a:t>[ 이미지 자리 ]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2325C"/>
                </a:solidFill>
              </a:rPr>
              <a:t>s50 vs s100 원칙별 분포 비교 막대 (나란히 2배 비례 증가가 보이는 차트)</a:t>
            </a:r>
          </a:p>
          <a:p>
            <a:pPr algn="ctr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</a:rPr>
              <a:t>03_extended_summary.md (b) 표 수치로 제작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DC2626"/>
                </a:solidFill>
              </a:rPr>
              <a:t>So-what |  '조용한 성공 위장 없이 전부 실패 기록' — 실패 보고 방식 자체가 이 시스템의 신뢰 계약을 증명한다.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</a:rPr>
              <a:t>04  Track C</a:t>
            </a:r>
          </a:p>
          <a:p>
            <a:pPr algn="l">
              <a:spcAft>
                <a:spcPts val="200"/>
              </a:spcAft>
            </a:pPr>
            <a:r>
              <a:rPr sz="2900" b="1">
                <a:solidFill>
                  <a:srgbClr val="12325C"/>
                </a:solidFill>
              </a:rPr>
              <a:t>혐오표현·브랜드세이프티 — 무엇을 왜 켰나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</a:rPr>
              <a:t>결론 | 근거 데이터셋 없이는 켜지 않았다 — 이제 근거가 생겨서 켰다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6B7280"/>
                </a:solidFill>
              </a:rPr>
              <a:t>왜 지금까지 껐나 (계약 서사)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법령 축과 달리 이 영역은 '조문'이 아니라 '사례' 기반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근거 데이터 없이 켜면 = 근거 없는 판정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→ 확장 슬롯(extension slot)으로 명시하고 보류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= '모르면 판정하지 않는다' 신뢰 계약의 일관 적용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737360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</a:rPr>
              <a:t>무엇으로 켰나 (UnSmile 기반 그래프)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RiskAxis 6축 · RiskPattern 58종 · CasePrecedent 607건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공개 데이터셋 Smilegate UnSmile (한국어 혐오표현)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판정마다 근거 선례 인용 + 출처·라이선스 각인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+ mitigation(수정 방향) 가이드 부착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160520"/>
            <a:ext cx="1106424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232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2325C"/>
                </a:solidFill>
              </a:rPr>
              <a:t>동작 원리 — 법령 축과 같은 2-레인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후보 게이트(임베딩·키워드) = 적용범위를 자른다(recall) → LLM = 맥락으로 확정한다(precision)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스모크 실증: 후보 4축 중 임베딩 오탐 2축(역사·참사/장애·인종)을 LLM이 axis_applies=false로 기각 — 판정 미생성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→ '룰이 자르고 LLM이 해석'하는 본체 아키텍처가 Track C에도 그대로 적용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DC2626"/>
                </a:solidFill>
              </a:rPr>
              <a:t>So-what |  혐오·차별 표현은 과징금보다 브랜드 평판 리스크 — 이제 그 영역도 '선례 인용 동반'으로 잡는다.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</a:rPr>
              <a:t>05  Track C 검증</a:t>
            </a:r>
          </a:p>
          <a:p>
            <a:pPr algn="l">
              <a:spcAft>
                <a:spcPts val="200"/>
              </a:spcAft>
            </a:pPr>
            <a:r>
              <a:rPr sz="2900" b="1">
                <a:solidFill>
                  <a:srgbClr val="12325C"/>
                </a:solidFill>
              </a:rPr>
              <a:t>라이브 스모크 4/4 PASS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</a:rPr>
              <a:t>결론 | 정확히 잡고(2축), 깨끗한 광고는 건드리지 않고(오탐 0), 끄면 완전 복귀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269748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E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0E7A3D"/>
                </a:solidFill>
              </a:rPr>
              <a:t>① 축 정확 검출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2325C"/>
                </a:solidFill>
              </a:rPr>
              <a:t>혐오+도박화 합성 문안 →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2325C"/>
                </a:solidFill>
              </a:rPr>
              <a:t>젠더 고정관념 HIGH 0.92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2325C"/>
                </a:solidFill>
              </a:rPr>
              <a:t>투자/도박화 HIGH 0.82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2325C"/>
                </a:solidFill>
              </a:rPr>
              <a:t>(목표 2축 정확)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01568" y="1737360"/>
            <a:ext cx="269748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2563EB"/>
                </a:solidFill>
              </a:rPr>
              <a:t>② 선례 인용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2325C"/>
                </a:solidFill>
              </a:rPr>
              <a:t>각 판정에 CasePrecedent 인용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2325C"/>
                </a:solidFill>
              </a:rPr>
              <a:t>+ 출처·라이선스 각인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2325C"/>
                </a:solidFill>
              </a:rPr>
              <a:t>+ flagged_spans 문장 지목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2325C"/>
                </a:solidFill>
              </a:rPr>
              <a:t>+ mitigation 가이드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54496" y="1737360"/>
            <a:ext cx="269748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E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0E7A3D"/>
                </a:solidFill>
              </a:rPr>
              <a:t>③ clean 오탐 0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2325C"/>
                </a:solidFill>
              </a:rPr>
              <a:t>정상 예금 안내 문안 →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2325C"/>
                </a:solidFill>
              </a:rPr>
              <a:t>후보 축 0 · 판정 0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2325C"/>
                </a:solidFill>
              </a:rPr>
              <a:t>(과잉 차단 없음)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07424" y="1737360"/>
            <a:ext cx="269748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6B7280"/>
                </a:solidFill>
              </a:rPr>
              <a:t>④ 게이트 OFF 회귀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2325C"/>
                </a:solidFill>
              </a:rPr>
              <a:t>끄면 기존 정적 요약으로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2325C"/>
                </a:solidFill>
              </a:rPr>
              <a:t>완전 복귀 (무회귀)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2325C"/>
                </a:solidFill>
              </a:rPr>
              <a:t>기존 응답 키 전부 유지(additive)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617720"/>
            <a:ext cx="11064240" cy="1234440"/>
          </a:xfrm>
          <a:prstGeom prst="rect">
            <a:avLst/>
          </a:prstGeom>
          <a:solidFill>
            <a:srgbClr val="F3F4F6"/>
          </a:solidFill>
          <a:ln w="19050">
            <a:solidFill>
              <a:srgbClr val="2563E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2563EB"/>
                </a:solidFill>
              </a:rPr>
              <a:t>[ 이미지 자리 ]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2325C"/>
                </a:solidFill>
              </a:rPr>
              <a:t>콘솔 캡처 — Track C 위험 카드(축·severity·근거 선례 인용·출처 표기)가 보이는 화면 1컷 (혐오 합성 문안 심사 결과)</a:t>
            </a:r>
          </a:p>
          <a:p>
            <a:pPr algn="ctr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</a:rPr>
              <a:t>라이브 심사 실행 후 캡처 · 원자료 JSON: tc_on_hate.json 등 (_workspace_trackc 스모크)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DC2626"/>
                </a:solidFill>
              </a:rPr>
              <a:t>So-what |  '잡습니다 + 근거 선례 인용' — 그리고 정상 광고를 막지 않는다는 것까지 실측으로 보였다(오탐 0).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563EB"/>
                </a:solidFill>
              </a:rPr>
              <a:t>06  각주와 한계</a:t>
            </a:r>
          </a:p>
          <a:p>
            <a:pPr algn="l">
              <a:spcAft>
                <a:spcPts val="200"/>
              </a:spcAft>
            </a:pPr>
            <a:r>
              <a:rPr sz="2900" b="1">
                <a:solidFill>
                  <a:srgbClr val="12325C"/>
                </a:solidFill>
              </a:rPr>
              <a:t>아는 것을 아는 만큼만 말한다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</a:rPr>
              <a:t>결론 | 한계를 먼저 밝히는 것이 이 시스템의 판정 태도와 같다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53949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232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2325C"/>
                </a:solidFill>
              </a:rPr>
              <a:t>라이선스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UnSmile: CC-BY-NC-ND 4.0 — 비상업 한정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→ 현 단계(대회·PoC)는 적합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상업 배포 시 K-MHaS(CC-BY-SA 4.0, 상업 허용)로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시드 교체 예정 — 노드에 데이터셋 출처 속성 보존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737360"/>
            <a:ext cx="53949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</a:rPr>
              <a:t>데이터 캡처 한계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심의필 표시 누락 수치는 단정 금지 —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크롤링 텍스트가 심의필 표기를 못 담았을 가능성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(이미지·푸터 영역 캡처 한계)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→ 발표에서는 '점검 신호'로만 말한다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251960"/>
            <a:ext cx="1106424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6B7280"/>
                </a:solidFill>
              </a:rPr>
              <a:t>개선 항목 (실패 12건에서 확인)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파이프라인 프롬프트 팽창(정책 후보·증거 패킹 19만~47만 자)이 컨텍스트 한계의 실원인 — 광고 길이 문제가 아님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12325C"/>
                </a:solidFill>
              </a:rPr>
              <a:t>개선 방향: 프롬프트 예산 관리(후보 컷·청킹) 또는 대형 컨텍스트 모델 라우팅 — 다음 스프린트 항목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DC2626"/>
                </a:solidFill>
              </a:rPr>
              <a:t>So-what |  미확정을 확정처럼 말하지 않는다 — 수치 하나하나에 출처와 한계를 붙이는 것이 심사 도구의 자격.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103120"/>
            <a:ext cx="9966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000" b="1">
                <a:solidFill>
                  <a:srgbClr val="FFFFFF"/>
                </a:solidFill>
              </a:rPr>
              <a:t>실광고 100건 — 확정위반 30건을 조문과 함께.</a:t>
            </a:r>
          </a:p>
          <a:p>
            <a:pPr algn="ctr">
              <a:spcAft>
                <a:spcPts val="1600"/>
              </a:spcAft>
            </a:pPr>
            <a:r>
              <a:rPr sz="3000" b="1">
                <a:solidFill>
                  <a:srgbClr val="FFFFFF"/>
                </a:solidFill>
              </a:rPr>
              <a:t>혐오표현 6축 — 판정마다 선례 인용, 정상 광고 오탐 0.</a:t>
            </a:r>
          </a:p>
          <a:p>
            <a:pPr algn="ctr">
              <a:spcAft>
                <a:spcPts val="600"/>
              </a:spcAft>
            </a:pPr>
            <a:r>
              <a:rPr sz="1800" b="1">
                <a:solidFill>
                  <a:srgbClr val="9EC5FF"/>
                </a:solidFill>
              </a:rPr>
              <a:t>법령 리스크도, 평판 리스크도 — 근거 없는 판정은 한 건도 내보내지 않습니다.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39496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9EC5FF"/>
                </a:solidFill>
              </a:rPr>
              <a:t>Team JunBub · 근거: report.md / 03_extended_summary.md / 02_smoke_summary.md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